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ade0c678924c8a" /><Relationship Type="http://schemas.openxmlformats.org/officeDocument/2006/relationships/extended-properties" Target="/docProps/app.xml" Id="R5b0f792fcec34203" /><Relationship Type="http://schemas.openxmlformats.org/officeDocument/2006/relationships/officeDocument" Target="/ppt/presentation.xml" Id="R357de3d9de004b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e9434103b74e90"/>
  </p:sldMasterIdLst>
  <p:notesMasterIdLst>
    <p:notesMasterId xmlns:r="http://schemas.openxmlformats.org/officeDocument/2006/relationships" r:id="R4445a2f98fe6484d"/>
  </p:notesMasterIdLst>
  <p:sldIdLst>
    <p:sldId xmlns:r="http://schemas.openxmlformats.org/officeDocument/2006/relationships" id="256" r:id="R95acbfb0be404ab7"/>
    <p:sldId xmlns:r="http://schemas.openxmlformats.org/officeDocument/2006/relationships" id="257" r:id="Ra215a0d8efee429e"/>
    <p:sldId xmlns:r="http://schemas.openxmlformats.org/officeDocument/2006/relationships" id="258" r:id="R59e72ef419ad4574"/>
    <p:sldId xmlns:r="http://schemas.openxmlformats.org/officeDocument/2006/relationships" id="259" r:id="Rd2a5ca55013c408f"/>
    <p:sldId xmlns:r="http://schemas.openxmlformats.org/officeDocument/2006/relationships" id="260" r:id="R986cbb76f861458c"/>
    <p:sldId xmlns:r="http://schemas.openxmlformats.org/officeDocument/2006/relationships" id="261" r:id="Reac4267aa30b44a2"/>
  </p:sldIdLst>
  <p:sldSz cx="10287000" cy="1828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e6d9abafde4199" /><Relationship Type="http://schemas.openxmlformats.org/officeDocument/2006/relationships/slideMaster" Target="/ppt/slideMasters/slideMaster1.xml" Id="Rede9434103b74e90" /><Relationship Type="http://schemas.openxmlformats.org/officeDocument/2006/relationships/notesMaster" Target="/ppt/notesMasters/notesMaster1.xml" Id="R4445a2f98fe6484d" /><Relationship Type="http://schemas.openxmlformats.org/officeDocument/2006/relationships/presProps" Target="/ppt/presProps.xml" Id="Raa5b54c7b39348c3" /><Relationship Type="http://schemas.openxmlformats.org/officeDocument/2006/relationships/tableStyles" Target="/ppt/tableStyles.xml" Id="R79efecbb9fa74c9b" /><Relationship Type="http://schemas.openxmlformats.org/officeDocument/2006/relationships/slide" Target="/ppt/slides/slide1.xml" Id="R95acbfb0be404ab7" /><Relationship Type="http://schemas.openxmlformats.org/officeDocument/2006/relationships/slide" Target="/ppt/slides/slide2.xml" Id="Ra215a0d8efee429e" /><Relationship Type="http://schemas.openxmlformats.org/officeDocument/2006/relationships/slide" Target="/ppt/slides/slide3.xml" Id="R59e72ef419ad4574" /><Relationship Type="http://schemas.openxmlformats.org/officeDocument/2006/relationships/slide" Target="/ppt/slides/slide4.xml" Id="Rd2a5ca55013c408f" /><Relationship Type="http://schemas.openxmlformats.org/officeDocument/2006/relationships/slide" Target="/ppt/slides/slide5.xml" Id="R986cbb76f861458c" /><Relationship Type="http://schemas.openxmlformats.org/officeDocument/2006/relationships/slide" Target="/ppt/slides/slide6.xml" Id="Reac4267aa30b44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4b3fe4056048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8f7c18186348c3" /><Relationship Type="http://schemas.openxmlformats.org/officeDocument/2006/relationships/notesMaster" Target="/ppt/notesMasters/notesMaster1.xml" Id="Ra793ec90e3c249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bea2d4c7f541b3" /><Relationship Type="http://schemas.openxmlformats.org/officeDocument/2006/relationships/notesMaster" Target="/ppt/notesMasters/notesMaster1.xml" Id="R336243cb2dbb40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c6f36812fa45a8" /><Relationship Type="http://schemas.openxmlformats.org/officeDocument/2006/relationships/notesMaster" Target="/ppt/notesMasters/notesMaster1.xml" Id="R2067db43c29b4f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c9c448abc140c1" /><Relationship Type="http://schemas.openxmlformats.org/officeDocument/2006/relationships/notesMaster" Target="/ppt/notesMasters/notesMaster1.xml" Id="Rcc2c0484e2c54f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18e4fbb9f542d1" /><Relationship Type="http://schemas.openxmlformats.org/officeDocument/2006/relationships/notesMaster" Target="/ppt/notesMasters/notesMaster1.xml" Id="R4d7bf53d44c440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f65eb261824342" /><Relationship Type="http://schemas.openxmlformats.org/officeDocument/2006/relationships/notesMaster" Target="/ppt/notesMasters/notesMaster1.xml" Id="Re32574d0cdbd49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c723c301647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f7df24c3524039" /><Relationship Type="http://schemas.openxmlformats.org/officeDocument/2006/relationships/slideLayout" Target="/ppt/slideLayouts/slideLayout1.xml" Id="R2d12875834ef48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12875834ef48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b9c16820a4599" /><Relationship Type="http://schemas.openxmlformats.org/officeDocument/2006/relationships/image" Target="/ppt/media/image.png" Id="R97be22cee8c14687" /><Relationship Type="http://schemas.openxmlformats.org/officeDocument/2006/relationships/notesSlide" Target="/ppt/notesSlides/notesSlide1.xml" Id="R2414a69d815c48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69c3bd1a84ad7" /><Relationship Type="http://schemas.openxmlformats.org/officeDocument/2006/relationships/image" Target="/ppt/media/image.jpeg" Id="Rf3664dcb1a2741ab" /><Relationship Type="http://schemas.openxmlformats.org/officeDocument/2006/relationships/notesSlide" Target="/ppt/notesSlides/notesSlide2.xml" Id="R89b57c1959b141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40d5a51184d06" /><Relationship Type="http://schemas.openxmlformats.org/officeDocument/2006/relationships/image" Target="/ppt/media/image2.jpeg" Id="R82ffed27478b492c" /><Relationship Type="http://schemas.openxmlformats.org/officeDocument/2006/relationships/notesSlide" Target="/ppt/notesSlides/notesSlide3.xml" Id="R5ad460cac6d344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1e295690c4e3b" /><Relationship Type="http://schemas.openxmlformats.org/officeDocument/2006/relationships/image" Target="/ppt/media/image3.jpeg" Id="R553f3ba9cfb945e8" /><Relationship Type="http://schemas.openxmlformats.org/officeDocument/2006/relationships/notesSlide" Target="/ppt/notesSlides/notesSlide4.xml" Id="R0c2f7b037d0343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8b6717a5c4df7" /><Relationship Type="http://schemas.openxmlformats.org/officeDocument/2006/relationships/image" Target="/ppt/media/image4.jpeg" Id="Ra619a646c6bd45df" /><Relationship Type="http://schemas.openxmlformats.org/officeDocument/2006/relationships/notesSlide" Target="/ppt/notesSlides/notesSlide5.xml" Id="Rce1615c72f2d4d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24e2da0a84fe6" /><Relationship Type="http://schemas.openxmlformats.org/officeDocument/2006/relationships/image" Target="/ppt/media/image5.jpeg" Id="Rfae0a017ea344142" /><Relationship Type="http://schemas.openxmlformats.org/officeDocument/2006/relationships/notesSlide" Target="/ppt/notesSlides/notesSlide6.xml" Id="Rfbf20598b6f549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e22cee8c146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1143000"/>
            <a:ext cx="8191500" cy="8191500"/>
          </a:xfrm>
          <a:prstGeom xmlns:a="http://schemas.openxmlformats.org/drawingml/2006/main" prst="rect">
            <a:avLst/>
          </a:prstGeom>
        </p:spPr>
      </p:pic>
      <p:sp>
        <p:nvSpPr>
          <p:cNvPr id="2" name="promise-rule">
            <a:extLst xmlns:a="http://schemas.openxmlformats.org/drawingml/2006/main">
              <a:ext uri="{FF2B5EF4-FFF2-40B4-BE49-F238E27FC236}">
                <a16:creationId xmlns:a16="http://schemas.microsoft.com/office/drawing/2014/main" id="{FDF5298B-B7F9-4D13-9BCB-2BD68777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38225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C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omise-title">
            <a:extLst xmlns:a="http://schemas.openxmlformats.org/drawingml/2006/main">
              <a:ext uri="{FF2B5EF4-FFF2-40B4-BE49-F238E27FC236}">
                <a16:creationId xmlns:a16="http://schemas.microsoft.com/office/drawing/2014/main" id="{5D715007-8365-4769-A4B4-36044187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0"/>
            <a:ext cx="876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66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rPr>
              <a:t>BUILDING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66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rPr>
              <a:t>USEFUL IDEAS.</a:t>
            </a:r>
          </a:p>
        </p:txBody>
      </p:sp>
      <p:sp>
        <p:nvSpPr>
          <p:cNvPr id="4" name="promise-subtitle">
            <a:extLst xmlns:a="http://schemas.openxmlformats.org/drawingml/2006/main">
              <a:ext uri="{FF2B5EF4-FFF2-40B4-BE49-F238E27FC236}">
                <a16:creationId xmlns:a16="http://schemas.microsoft.com/office/drawing/2014/main" id="{C46A664E-CF5E-4438-A131-2958D0AA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83DDD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83DDD5"/>
                </a:solidFill>
                <a:latin typeface="Aptos Display"/>
                <a:ea typeface="Aptos Display"/>
                <a:cs typeface="Aptos Display"/>
              </a:rPr>
              <a:t>OPENING DOORS TO STEM.</a:t>
            </a:r>
          </a:p>
        </p:txBody>
      </p:sp>
      <p:sp>
        <p:nvSpPr>
          <p:cNvPr id="5" name="promise-url">
            <a:extLst xmlns:a="http://schemas.openxmlformats.org/drawingml/2006/main">
              <a:ext uri="{FF2B5EF4-FFF2-40B4-BE49-F238E27FC236}">
                <a16:creationId xmlns:a16="http://schemas.microsoft.com/office/drawing/2014/main" id="{2319C06E-4912-4D09-8569-6EE57DFE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0A2B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0A2B5"/>
                </a:solidFill>
                <a:latin typeface="Aptos"/>
                <a:ea typeface="Aptos"/>
                <a:cs typeface="Aptos"/>
              </a:rPr>
              <a:t>OMRAMANATHAN.COM</a:t>
            </a:r>
          </a:p>
        </p:txBody>
      </p:sp>
    </p:spTree>
    <p:extLst>
      <p:ext uri="{BB962C8B-B14F-4D97-AF65-F5344CB8AC3E}">
        <p14:creationId xmlns:p14="http://schemas.microsoft.com/office/powerpoint/2010/main" val="960784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64dcb1a2741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portrait-caption-band">
            <a:extLst xmlns:a="http://schemas.openxmlformats.org/drawingml/2006/main">
              <a:ext uri="{FF2B5EF4-FFF2-40B4-BE49-F238E27FC236}">
                <a16:creationId xmlns:a16="http://schemas.microsoft.com/office/drawing/2014/main" id="{C59E4A87-4D6C-4AE2-9550-D4B5435A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0"/>
            <a:ext cx="102870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rtrait-rule">
            <a:extLst xmlns:a="http://schemas.openxmlformats.org/drawingml/2006/main">
              <a:ext uri="{FF2B5EF4-FFF2-40B4-BE49-F238E27FC236}">
                <a16:creationId xmlns:a16="http://schemas.microsoft.com/office/drawing/2014/main" id="{B926ABF3-064F-4377-B3DF-F63EE9CE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C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ortrait-name">
            <a:extLst xmlns:a="http://schemas.openxmlformats.org/drawingml/2006/main">
              <a:ext uri="{FF2B5EF4-FFF2-40B4-BE49-F238E27FC236}">
                <a16:creationId xmlns:a16="http://schemas.microsoft.com/office/drawing/2014/main" id="{7326A2B0-FCF3-4DD0-B0BA-77797F2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rPr>
              <a:t>OM RAMANATHAN</a:t>
            </a:r>
          </a:p>
        </p:txBody>
      </p:sp>
      <p:sp>
        <p:nvSpPr>
          <p:cNvPr id="5" name="portrait-roles">
            <a:extLst xmlns:a="http://schemas.openxmlformats.org/drawingml/2006/main">
              <a:ext uri="{FF2B5EF4-FFF2-40B4-BE49-F238E27FC236}">
                <a16:creationId xmlns:a16="http://schemas.microsoft.com/office/drawing/2014/main" id="{3AC912F4-DFC3-432A-9CFD-7473B3E4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1">
                <a:solidFill>
                  <a:srgbClr val="83DDD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83DDD5"/>
                </a:solidFill>
                <a:latin typeface="Aptos"/>
                <a:ea typeface="Aptos"/>
                <a:cs typeface="Aptos"/>
              </a:rPr>
              <a:t>STUDENT BUILDER  ·  FOUNDER  ·  COMMUNITY LEADER</a:t>
            </a:r>
          </a:p>
        </p:txBody>
      </p:sp>
      <p:sp>
        <p:nvSpPr>
          <p:cNvPr id="6" name="portrait-proof">
            <a:extLst xmlns:a="http://schemas.openxmlformats.org/drawingml/2006/main">
              <a:ext uri="{FF2B5EF4-FFF2-40B4-BE49-F238E27FC236}">
                <a16:creationId xmlns:a16="http://schemas.microsoft.com/office/drawing/2014/main" id="{5F5A89EA-1EB7-4F91-A497-D9BB7F94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>
                <a:solidFill>
                  <a:srgbClr val="90A2B5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90A2B5"/>
                </a:solidFill>
                <a:latin typeface="Aptos"/>
                <a:ea typeface="Aptos"/>
                <a:cs typeface="Aptos"/>
              </a:rPr>
              <a:t>Engineering ideas, building products, and expanding access to hands-on STEM learning.</a:t>
            </a:r>
          </a:p>
        </p:txBody>
      </p:sp>
    </p:spTree>
    <p:extLst>
      <p:ext uri="{BB962C8B-B14F-4D97-AF65-F5344CB8AC3E}">
        <p14:creationId xmlns:p14="http://schemas.microsoft.com/office/powerpoint/2010/main" val="1717403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rt-frame">
            <a:extLst xmlns:a="http://schemas.openxmlformats.org/drawingml/2006/main">
              <a:ext uri="{FF2B5EF4-FFF2-40B4-BE49-F238E27FC236}">
                <a16:creationId xmlns:a16="http://schemas.microsoft.com/office/drawing/2014/main" id="{C2CEA92C-B278-489E-9661-45EE4F42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105900" cy="115252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0D1C2B"/>
          </a:solidFill>
          <a:ln xmlns:a="http://schemas.openxmlformats.org/drawingml/2006/main" w="19050">
            <a:solidFill>
              <a:srgbClr val="22384B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fed27478b492c"/>
          <a:srcRect xmlns:a="http://schemas.openxmlformats.org/drawingml/2006/main" l="0" t="14131" r="0" b="141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838200"/>
            <a:ext cx="8801100" cy="11220450"/>
          </a:xfrm>
          <a:prstGeom xmlns:a="http://schemas.openxmlformats.org/drawingml/2006/main" prst="roundRect">
            <a:avLst>
              <a:gd name="adj" fmla="val 1299"/>
            </a:avLst>
          </a:prstGeom>
        </p:spPr>
      </p:pic>
      <p:sp>
        <p:nvSpPr>
          <p:cNvPr id="3" name="trt-rule">
            <a:extLst xmlns:a="http://schemas.openxmlformats.org/drawingml/2006/main">
              <a:ext uri="{FF2B5EF4-FFF2-40B4-BE49-F238E27FC236}">
                <a16:creationId xmlns:a16="http://schemas.microsoft.com/office/drawing/2014/main" id="{4E97268C-A70F-4560-928B-82768212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C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rt-eyebrow">
            <a:extLst xmlns:a="http://schemas.openxmlformats.org/drawingml/2006/main">
              <a:ext uri="{FF2B5EF4-FFF2-40B4-BE49-F238E27FC236}">
                <a16:creationId xmlns:a16="http://schemas.microsoft.com/office/drawing/2014/main" id="{CFD2BF97-DBEA-4DC3-A1D7-08601A0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3DDD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3DDD5"/>
                </a:solidFill>
                <a:latin typeface="Aptos"/>
                <a:ea typeface="Aptos"/>
                <a:cs typeface="Aptos"/>
              </a:rPr>
              <a:t>01 / PRODUCT + SOFTWARE</a:t>
            </a:r>
          </a:p>
        </p:txBody>
      </p:sp>
      <p:sp>
        <p:nvSpPr>
          <p:cNvPr id="5" name="trt-title">
            <a:extLst xmlns:a="http://schemas.openxmlformats.org/drawingml/2006/main">
              <a:ext uri="{FF2B5EF4-FFF2-40B4-BE49-F238E27FC236}">
                <a16:creationId xmlns:a16="http://schemas.microsoft.com/office/drawing/2014/main" id="{2B45704D-7343-4EA9-8A36-7ECD62AA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rPr>
              <a:t>THE REAL TEMP</a:t>
            </a:r>
          </a:p>
        </p:txBody>
      </p:sp>
      <p:sp>
        <p:nvSpPr>
          <p:cNvPr id="6" name="trt-roles">
            <a:extLst xmlns:a="http://schemas.openxmlformats.org/drawingml/2006/main">
              <a:ext uri="{FF2B5EF4-FFF2-40B4-BE49-F238E27FC236}">
                <a16:creationId xmlns:a16="http://schemas.microsoft.com/office/drawing/2014/main" id="{3916ACAC-7DF2-4C28-AD2F-668AE094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5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0A2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0A2B5"/>
                </a:solidFill>
                <a:latin typeface="Aptos"/>
                <a:ea typeface="Aptos"/>
                <a:cs typeface="Aptos"/>
              </a:rPr>
              <a:t>FOUNDER  ·  DESIGNER  ·  DEVELOPER</a:t>
            </a:r>
          </a:p>
        </p:txBody>
      </p:sp>
      <p:sp>
        <p:nvSpPr>
          <p:cNvPr id="7" name="trt-status-pill">
            <a:extLst xmlns:a="http://schemas.openxmlformats.org/drawingml/2006/main">
              <a:ext uri="{FF2B5EF4-FFF2-40B4-BE49-F238E27FC236}">
                <a16:creationId xmlns:a16="http://schemas.microsoft.com/office/drawing/2014/main" id="{D5185204-8A42-442A-804E-2B0BBB4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0"/>
            <a:ext cx="1809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t-status-text">
            <a:extLst xmlns:a="http://schemas.openxmlformats.org/drawingml/2006/main">
              <a:ext uri="{FF2B5EF4-FFF2-40B4-BE49-F238E27FC236}">
                <a16:creationId xmlns:a16="http://schemas.microsoft.com/office/drawing/2014/main" id="{088046E0-2667-492B-895F-DF23ACD9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4687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3DD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3DDD5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</p:spTree>
    <p:extLst>
      <p:ext uri="{BB962C8B-B14F-4D97-AF65-F5344CB8AC3E}">
        <p14:creationId xmlns:p14="http://schemas.microsoft.com/office/powerpoint/2010/main" val="785433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oadseal-frame">
            <a:extLst xmlns:a="http://schemas.openxmlformats.org/drawingml/2006/main">
              <a:ext uri="{FF2B5EF4-FFF2-40B4-BE49-F238E27FC236}">
                <a16:creationId xmlns:a16="http://schemas.microsoft.com/office/drawing/2014/main" id="{45DA364A-343E-4A79-8735-6F28FFDA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105900" cy="115252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0D1C2B"/>
          </a:solidFill>
          <a:ln xmlns:a="http://schemas.openxmlformats.org/drawingml/2006/main" w="19050">
            <a:solidFill>
              <a:srgbClr val="22384B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f3ba9cfb945e8"/>
          <a:srcRect xmlns:a="http://schemas.openxmlformats.org/drawingml/2006/main" l="0" t="14131" r="0" b="141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838200"/>
            <a:ext cx="8801100" cy="11220450"/>
          </a:xfrm>
          <a:prstGeom xmlns:a="http://schemas.openxmlformats.org/drawingml/2006/main" prst="roundRect">
            <a:avLst>
              <a:gd name="adj" fmla="val 1299"/>
            </a:avLst>
          </a:prstGeom>
        </p:spPr>
      </p:pic>
      <p:sp>
        <p:nvSpPr>
          <p:cNvPr id="3" name="roadseal-rule">
            <a:extLst xmlns:a="http://schemas.openxmlformats.org/drawingml/2006/main">
              <a:ext uri="{FF2B5EF4-FFF2-40B4-BE49-F238E27FC236}">
                <a16:creationId xmlns:a16="http://schemas.microsoft.com/office/drawing/2014/main" id="{6A104A18-71C6-4280-91A7-F538766E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C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seal-eyebrow">
            <a:extLst xmlns:a="http://schemas.openxmlformats.org/drawingml/2006/main">
              <a:ext uri="{FF2B5EF4-FFF2-40B4-BE49-F238E27FC236}">
                <a16:creationId xmlns:a16="http://schemas.microsoft.com/office/drawing/2014/main" id="{91AC0716-FCDB-4FA9-B966-940A97F4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3DDD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3DDD5"/>
                </a:solidFill>
                <a:latin typeface="Aptos"/>
                <a:ea typeface="Aptos"/>
                <a:cs typeface="Aptos"/>
              </a:rPr>
              <a:t>02 / ROBOTICS + INFRASTRUCTURE</a:t>
            </a:r>
          </a:p>
        </p:txBody>
      </p:sp>
      <p:sp>
        <p:nvSpPr>
          <p:cNvPr id="5" name="roadseal-title">
            <a:extLst xmlns:a="http://schemas.openxmlformats.org/drawingml/2006/main">
              <a:ext uri="{FF2B5EF4-FFF2-40B4-BE49-F238E27FC236}">
                <a16:creationId xmlns:a16="http://schemas.microsoft.com/office/drawing/2014/main" id="{7A997458-434F-41EA-8B96-254FC3C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rPr>
              <a:t>ROADSEAL</a:t>
            </a:r>
          </a:p>
        </p:txBody>
      </p:sp>
      <p:sp>
        <p:nvSpPr>
          <p:cNvPr id="6" name="roadseal-description">
            <a:extLst xmlns:a="http://schemas.openxmlformats.org/drawingml/2006/main">
              <a:ext uri="{FF2B5EF4-FFF2-40B4-BE49-F238E27FC236}">
                <a16:creationId xmlns:a16="http://schemas.microsoft.com/office/drawing/2014/main" id="{F6392A81-B150-4FA5-9716-565BDB2C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59050"/>
            <a:ext cx="876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250" b="1">
                <a:solidFill>
                  <a:srgbClr val="90A2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0A2B5"/>
                </a:solidFill>
                <a:latin typeface="Aptos"/>
                <a:ea typeface="Aptos"/>
                <a:cs typeface="Aptos"/>
              </a:rPr>
              <a:t>AUTONOMOUS ROAD-CRACK SEALING ROBOT CONCEPT</a:t>
            </a:r>
          </a:p>
        </p:txBody>
      </p:sp>
      <p:sp>
        <p:nvSpPr>
          <p:cNvPr id="7" name="roadseal-status-pill">
            <a:extLst xmlns:a="http://schemas.openxmlformats.org/drawingml/2006/main">
              <a:ext uri="{FF2B5EF4-FFF2-40B4-BE49-F238E27FC236}">
                <a16:creationId xmlns:a16="http://schemas.microsoft.com/office/drawing/2014/main" id="{30E7FCAB-26FD-4665-9EF0-5D10CC77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0"/>
            <a:ext cx="3143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seal-status-text">
            <a:extLst xmlns:a="http://schemas.openxmlformats.org/drawingml/2006/main">
              <a:ext uri="{FF2B5EF4-FFF2-40B4-BE49-F238E27FC236}">
                <a16:creationId xmlns:a16="http://schemas.microsoft.com/office/drawing/2014/main" id="{E961A188-13AF-4D63-8E3E-B53688C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65922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3DD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3DDD5"/>
                </a:solidFill>
                <a:latin typeface="Aptos"/>
                <a:ea typeface="Aptos"/>
                <a:cs typeface="Aptos"/>
              </a:rPr>
              <a:t>IN DEVELOPMENT</a:t>
            </a:r>
          </a:p>
        </p:txBody>
      </p:sp>
    </p:spTree>
    <p:extLst>
      <p:ext uri="{BB962C8B-B14F-4D97-AF65-F5344CB8AC3E}">
        <p14:creationId xmlns:p14="http://schemas.microsoft.com/office/powerpoint/2010/main" val="2025774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utreach-frame">
            <a:extLst xmlns:a="http://schemas.openxmlformats.org/drawingml/2006/main">
              <a:ext uri="{FF2B5EF4-FFF2-40B4-BE49-F238E27FC236}">
                <a16:creationId xmlns:a16="http://schemas.microsoft.com/office/drawing/2014/main" id="{420A2B20-ABF8-460F-9DEE-FD6BFAE5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105900" cy="115252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0D1C2B"/>
          </a:solidFill>
          <a:ln xmlns:a="http://schemas.openxmlformats.org/drawingml/2006/main" w="19050">
            <a:solidFill>
              <a:srgbClr val="22384B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9a646c6bd45df"/>
          <a:srcRect xmlns:a="http://schemas.openxmlformats.org/drawingml/2006/main" l="0" t="14131" r="0" b="141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838200"/>
            <a:ext cx="8801100" cy="11220450"/>
          </a:xfrm>
          <a:prstGeom xmlns:a="http://schemas.openxmlformats.org/drawingml/2006/main" prst="roundRect">
            <a:avLst>
              <a:gd name="adj" fmla="val 1299"/>
            </a:avLst>
          </a:prstGeom>
        </p:spPr>
      </p:pic>
      <p:sp>
        <p:nvSpPr>
          <p:cNvPr id="3" name="outreach-rule">
            <a:extLst xmlns:a="http://schemas.openxmlformats.org/drawingml/2006/main">
              <a:ext uri="{FF2B5EF4-FFF2-40B4-BE49-F238E27FC236}">
                <a16:creationId xmlns:a16="http://schemas.microsoft.com/office/drawing/2014/main" id="{CA689E1D-CF5D-4D0C-A0BE-F384BF79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C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utreach-eyebrow">
            <a:extLst xmlns:a="http://schemas.openxmlformats.org/drawingml/2006/main">
              <a:ext uri="{FF2B5EF4-FFF2-40B4-BE49-F238E27FC236}">
                <a16:creationId xmlns:a16="http://schemas.microsoft.com/office/drawing/2014/main" id="{44097A96-B8F4-4675-851A-79BA04E8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3DDD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3DDD5"/>
                </a:solidFill>
                <a:latin typeface="Aptos"/>
                <a:ea typeface="Aptos"/>
                <a:cs typeface="Aptos"/>
              </a:rPr>
              <a:t>03 / COMMUNITY IMPACT</a:t>
            </a:r>
          </a:p>
        </p:txBody>
      </p:sp>
      <p:sp>
        <p:nvSpPr>
          <p:cNvPr id="5" name="outreach-title">
            <a:extLst xmlns:a="http://schemas.openxmlformats.org/drawingml/2006/main">
              <a:ext uri="{FF2B5EF4-FFF2-40B4-BE49-F238E27FC236}">
                <a16:creationId xmlns:a16="http://schemas.microsoft.com/office/drawing/2014/main" id="{107D4CB9-3542-47ED-B207-BE22A835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0"/>
            <a:ext cx="876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1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rPr>
              <a:t>FREE, HANDS-ON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51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rPr>
              <a:t>STEM WORKSHOPS</a:t>
            </a:r>
          </a:p>
        </p:txBody>
      </p:sp>
      <p:sp>
        <p:nvSpPr>
          <p:cNvPr id="6" name="outreach-topics">
            <a:extLst xmlns:a="http://schemas.openxmlformats.org/drawingml/2006/main">
              <a:ext uri="{FF2B5EF4-FFF2-40B4-BE49-F238E27FC236}">
                <a16:creationId xmlns:a16="http://schemas.microsoft.com/office/drawing/2014/main" id="{BA76C69F-040C-4B07-BAE3-83922510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3DDD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83DDD5"/>
                </a:solidFill>
                <a:latin typeface="Aptos"/>
                <a:ea typeface="Aptos"/>
                <a:cs typeface="Aptos"/>
              </a:rPr>
              <a:t>CODING  ·  ROBOTICS  ·  ELECTRONICS</a:t>
            </a:r>
          </a:p>
        </p:txBody>
      </p:sp>
      <p:sp>
        <p:nvSpPr>
          <p:cNvPr id="7" name="outreach-line">
            <a:extLst xmlns:a="http://schemas.openxmlformats.org/drawingml/2006/main">
              <a:ext uri="{FF2B5EF4-FFF2-40B4-BE49-F238E27FC236}">
                <a16:creationId xmlns:a16="http://schemas.microsoft.com/office/drawing/2014/main" id="{04460AB4-7D54-481C-BCF5-C34A72B3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0A2B5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0A2B5"/>
                </a:solidFill>
                <a:latin typeface="Aptos"/>
                <a:ea typeface="Aptos"/>
                <a:cs typeface="Aptos"/>
              </a:rPr>
              <a:t>Learning by doing.</a:t>
            </a:r>
          </a:p>
        </p:txBody>
      </p:sp>
    </p:spTree>
    <p:extLst>
      <p:ext uri="{BB962C8B-B14F-4D97-AF65-F5344CB8AC3E}">
        <p14:creationId xmlns:p14="http://schemas.microsoft.com/office/powerpoint/2010/main" val="512227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0a017ea344142"/>
          <a:srcRect xmlns:a="http://schemas.openxmlformats.org/drawingml/2006/main" l="0" t="16337" r="0" b="163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85800"/>
            <a:ext cx="8915400" cy="1066800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  <p:sp>
        <p:nvSpPr>
          <p:cNvPr id="2" name="cta-band">
            <a:extLst xmlns:a="http://schemas.openxmlformats.org/drawingml/2006/main">
              <a:ext uri="{FF2B5EF4-FFF2-40B4-BE49-F238E27FC236}">
                <a16:creationId xmlns:a16="http://schemas.microsoft.com/office/drawing/2014/main" id="{E6FD9A79-98C6-4EA2-9B38-FF371C10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0"/>
            <a:ext cx="102870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ta-rule">
            <a:extLst xmlns:a="http://schemas.openxmlformats.org/drawingml/2006/main">
              <a:ext uri="{FF2B5EF4-FFF2-40B4-BE49-F238E27FC236}">
                <a16:creationId xmlns:a16="http://schemas.microsoft.com/office/drawing/2014/main" id="{EEEA9989-472C-4667-B35A-03AE9DBC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C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ta-eyebrow">
            <a:extLst xmlns:a="http://schemas.openxmlformats.org/drawingml/2006/main">
              <a:ext uri="{FF2B5EF4-FFF2-40B4-BE49-F238E27FC236}">
                <a16:creationId xmlns:a16="http://schemas.microsoft.com/office/drawing/2014/main" id="{0D45F11D-5514-4EF5-94BC-DC28473B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811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3DDD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3DDD5"/>
                </a:solidFill>
                <a:latin typeface="Aptos"/>
                <a:ea typeface="Aptos"/>
                <a:cs typeface="Aptos"/>
              </a:rPr>
              <a:t>PROJECTS  ·  PROFILE  ·  OUTREACH</a:t>
            </a:r>
          </a:p>
        </p:txBody>
      </p:sp>
      <p:sp>
        <p:nvSpPr>
          <p:cNvPr id="5" name="cta-title">
            <a:extLst xmlns:a="http://schemas.openxmlformats.org/drawingml/2006/main">
              <a:ext uri="{FF2B5EF4-FFF2-40B4-BE49-F238E27FC236}">
                <a16:creationId xmlns:a16="http://schemas.microsoft.com/office/drawing/2014/main" id="{7056637F-658E-47BA-80C2-D574DD64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0"/>
            <a:ext cx="876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69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defRPr>
            </a:pPr>
            <a:r>
              <a:rPr sz="69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rPr>
              <a:t>EXPLORE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69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defRPr>
            </a:pPr>
            <a:r>
              <a:rPr sz="6900" b="1">
                <a:solidFill>
                  <a:srgbClr val="F3F7FA"/>
                </a:solidFill>
                <a:latin typeface="Aptos Display"/>
                <a:ea typeface="Aptos Display"/>
                <a:cs typeface="Aptos Display"/>
              </a:rPr>
              <a:t>MY WORK.</a:t>
            </a:r>
          </a:p>
        </p:txBody>
      </p:sp>
      <p:sp>
        <p:nvSpPr>
          <p:cNvPr id="6" name="cta-url">
            <a:extLst xmlns:a="http://schemas.openxmlformats.org/drawingml/2006/main">
              <a:ext uri="{FF2B5EF4-FFF2-40B4-BE49-F238E27FC236}">
                <a16:creationId xmlns:a16="http://schemas.microsoft.com/office/drawing/2014/main" id="{1B073FF2-5A4B-41AE-B44B-7CA52BDA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73375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83DDD5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83DDD5"/>
                </a:solidFill>
                <a:latin typeface="Aptos Display"/>
                <a:ea typeface="Aptos Display"/>
                <a:cs typeface="Aptos Display"/>
              </a:rPr>
              <a:t>OMRAMANATHAN.COM</a:t>
            </a:r>
          </a:p>
        </p:txBody>
      </p:sp>
      <p:sp>
        <p:nvSpPr>
          <p:cNvPr id="7" name="cta-tagline">
            <a:extLst xmlns:a="http://schemas.openxmlformats.org/drawingml/2006/main">
              <a:ext uri="{FF2B5EF4-FFF2-40B4-BE49-F238E27FC236}">
                <a16:creationId xmlns:a16="http://schemas.microsoft.com/office/drawing/2014/main" id="{DEC32D0F-3FB7-47A2-B30F-7736248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75" b="1">
                <a:solidFill>
                  <a:srgbClr val="90A2B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90A2B5"/>
                </a:solidFill>
                <a:latin typeface="Aptos"/>
                <a:ea typeface="Aptos"/>
                <a:cs typeface="Aptos"/>
              </a:rPr>
              <a:t>BUILDING USEFUL IDEAS. OPENING DOORS TO STEM.</a:t>
            </a:r>
          </a:p>
        </p:txBody>
      </p:sp>
    </p:spTree>
    <p:extLst>
      <p:ext uri="{BB962C8B-B14F-4D97-AF65-F5344CB8AC3E}">
        <p14:creationId xmlns:p14="http://schemas.microsoft.com/office/powerpoint/2010/main" val="1180170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2026-07-18T23:42:05.3230000Z</dcterms:created>
  <dcterms:modified xsi:type="dcterms:W3CDTF">2026-07-18T23:42:05.3230000Z</dcterms:modified>
</coreProperties>
</file>